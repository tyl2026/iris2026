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8800" y="939600"/>
            <a:ext cx="288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479D"/>
                </a:solidFill>
              </a:rPr>
              <a:t>iMED</a:t>
            </a:r>
            <a:r>
              <a:rPr sz="3600" b="1">
                <a:solidFill>
                  <a:srgbClr val="F8B62D"/>
                </a:solidFill>
              </a:rPr>
              <a:t>WAY</a:t>
            </a:r>
          </a:p>
          <a:p>
            <a:r>
              <a:rPr sz="1400">
                <a:solidFill>
                  <a:srgbClr val="262626"/>
                </a:solidFill>
              </a:rPr>
              <a:t>东华医为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1600" y="1980000"/>
            <a:ext cx="720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479D"/>
                </a:solidFill>
              </a:rPr>
              <a:t>IRIS HIS</a:t>
            </a:r>
          </a:p>
          <a:p>
            <a:r>
              <a:rPr sz="4400" b="1">
                <a:solidFill>
                  <a:srgbClr val="00479D"/>
                </a:solidFill>
              </a:rPr>
              <a:t>病案编目数据自定义查询系统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4800" y="3671999"/>
            <a:ext cx="36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479D"/>
                </a:solidFill>
              </a:rPr>
              <a:t>开发经验分享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800" y="5220000"/>
            <a:ext cx="2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62626"/>
                </a:solidFill>
              </a:rPr>
              <a:t>2026年7月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0000" y="1080000"/>
            <a:ext cx="432000" cy="432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20000" y="720000"/>
            <a:ext cx="432000" cy="43200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60000" y="2160000"/>
            <a:ext cx="432000" cy="432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60000" y="1620000"/>
            <a:ext cx="432000" cy="432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60000" y="2520000"/>
            <a:ext cx="432000" cy="432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0000" y="3420000"/>
            <a:ext cx="432000" cy="43200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360000"/>
            <a:ext cx="28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目录</a:t>
            </a:r>
          </a:p>
          <a:p>
            <a:r>
              <a:rPr sz="1400">
                <a:solidFill>
                  <a:srgbClr val="00A9E4"/>
                </a:solidFill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0" y="1260000"/>
            <a:ext cx="1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79D"/>
                </a:solidFill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0000" y="1278000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项目背景与需求分析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0000" y="1656000"/>
            <a:ext cx="64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为什么要做自定义查询系统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0000" y="2016000"/>
            <a:ext cx="9000000" cy="5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124000"/>
            <a:ext cx="1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79D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0000" y="2142000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系统架构与接口设计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0000" y="2520000"/>
            <a:ext cx="64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三层架构 + 前后端交互 + API 一览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0000" y="2880000"/>
            <a:ext cx="9000000" cy="5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2988000"/>
            <a:ext cx="1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79D"/>
                </a:solidFill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0000" y="3006000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界面功能介绍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80000" y="3384000"/>
            <a:ext cx="64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6 大功能模块详解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0000" y="3744000"/>
            <a:ext cx="9000000" cy="5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0000" y="3851999"/>
            <a:ext cx="1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79D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80000" y="3869999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关键技术实现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0000" y="4247999"/>
            <a:ext cx="64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条件引擎 / 模板系统 / 数据转换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0000" y="4607999"/>
            <a:ext cx="9000000" cy="5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0000" y="4716000"/>
            <a:ext cx="1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79D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80000" y="4734000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避坑指南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80000" y="5112000"/>
            <a:ext cx="64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IRIS ObjectScript 8 大常见陷阱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0000" y="5472000"/>
            <a:ext cx="9000000" cy="5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0000" y="5580000"/>
            <a:ext cx="1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479D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80000" y="5598000"/>
            <a:ext cx="648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62626"/>
                </a:solidFill>
              </a:rPr>
              <a:t>经验总结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0000" y="5976000"/>
            <a:ext cx="648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66666"/>
                </a:solidFill>
              </a:rPr>
              <a:t>最佳实践与开发规范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340000"/>
            <a:ext cx="216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479D"/>
                </a:solidFill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0" y="2700000"/>
            <a:ext cx="7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>
                <a:solidFill>
                  <a:srgbClr val="00A9E4"/>
                </a:solidFill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0" y="2700000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479D"/>
                </a:solidFill>
              </a:rPr>
              <a:t>项目背景与需求分析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0" y="108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60000" y="1800000"/>
            <a:ext cx="360000" cy="360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20000" y="2520000"/>
            <a:ext cx="360000" cy="360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40000" y="324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1.1 / 项目背景与核心需求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1368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1368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1475999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项目背景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1944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HIS 病案编目数据存储在 ^DHCMRInfo Global (596字段)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传统查询需手写 ObjectScript 代码遍历 Global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非技术人员无法自助查询, 每次需求都需开发介入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字段多(349可用)、分组杂、缺乏灵活查询工具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1368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1368000"/>
            <a:ext cx="54000" cy="468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1475999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9E4"/>
                </a:solidFill>
              </a:rPr>
              <a:t>核心需求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1944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自由选择输出列 (支持搜索、分组、拖拽排序)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动态查询条件 (AND/OR + 条件组, 6种运算符)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查询模板保存/引用/管理 (通用/个人范围)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结果导出 CSV, 手动分页, footer 费用合计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IE11 兼容 (ES5 语法, 无 let/const/Promise)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1.2 / 数据模型与字段体系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1368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1368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1475999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^DHCMRInfo Global 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1944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^DHCMRInfo(id) = 字段1 ^ 字段2 ^ ... ^ 字段N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349 可用字段, piece 位置固定 (1~352)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元数据: field / title / type / piece / group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类型: String, Date, Number, CTLoc, Gender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聚合: MR_ALLZD/ALLSS 等 MultiPiece 虚拟字段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1368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1368000"/>
            <a:ext cx="54000" cy="468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1475999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9E4"/>
                </a:solidFill>
              </a:rPr>
              <a:t>349 字段 / 10 大分组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1944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300" b="1">
                <a:solidFill>
                  <a:srgbClr val="00479D"/>
                </a:solidFill>
              </a:rPr>
              <a:t>住院信息(122)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300" b="1">
                <a:solidFill>
                  <a:srgbClr val="00A9E4"/>
                </a:solidFill>
              </a:rPr>
              <a:t>手术信息(81)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300" b="1">
                <a:solidFill>
                  <a:srgbClr val="13AE67"/>
                </a:solidFill>
              </a:rPr>
              <a:t>诊断信息(75)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300" b="1">
                <a:solidFill>
                  <a:srgbClr val="ED7D31"/>
                </a:solidFill>
              </a:rPr>
              <a:t>费用信息(31)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300" b="1">
                <a:solidFill>
                  <a:srgbClr val="00479D"/>
                </a:solidFill>
              </a:rPr>
              <a:t>基本信息(28)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300" b="1">
                <a:solidFill>
                  <a:srgbClr val="666666"/>
                </a:solidFill>
              </a:rPr>
              <a:t>其他(34)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300" b="1">
                <a:solidFill>
                  <a:srgbClr val="ED7D31"/>
                </a:solidFill>
              </a:rPr>
              <a:t>不良事件(13)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300" b="1">
                <a:solidFill>
                  <a:srgbClr val="13AE67"/>
                </a:solidFill>
              </a:rPr>
              <a:t>护理信息(9)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340000"/>
            <a:ext cx="216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479D"/>
                </a:solidFill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0" y="2700000"/>
            <a:ext cx="7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>
                <a:solidFill>
                  <a:srgbClr val="00A9E4"/>
                </a:solidFill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0" y="2700000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479D"/>
                </a:solidFill>
              </a:rPr>
              <a:t>系统架构与接口设计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0" y="108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60000" y="1800000"/>
            <a:ext cx="360000" cy="360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20000" y="2520000"/>
            <a:ext cx="360000" cy="360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40000" y="324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2.1 / 三层架构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1368000"/>
            <a:ext cx="10080000" cy="16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000" y="1476000"/>
            <a:ext cx="1800000" cy="360000"/>
          </a:xfrm>
          <a:prstGeom prst="round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展示层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0000" y="1800000"/>
            <a:ext cx="7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62626"/>
                </a:solidFill>
              </a:rPr>
              <a:t>CSP 页面 + HISUI 组件 (EasyUI) + JavaScript (IE11 ES5)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0000" y="3420000"/>
            <a:ext cx="10080000" cy="16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88000" y="3528000"/>
            <a:ext cx="180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API/业务层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000" y="3852000"/>
            <a:ext cx="7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62626"/>
                </a:solidFill>
              </a:rPr>
              <a:t>web.YZSY.DHCMRCustomQuery (12 个 ClassMethod)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80000" y="5472000"/>
            <a:ext cx="10080000" cy="16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3A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8000" y="5580000"/>
            <a:ext cx="1800000" cy="360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数据层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0000" y="5904000"/>
            <a:ext cx="72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262626"/>
                </a:solidFill>
              </a:rPr>
              <a:t>^DHCMRInfo Global + ^User.DHCMRQueryTemplateD + DHCMR_QueryTemplate SQL 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2.2 / 后端 API 接口一览 (12 个 ClassMethod)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3491999" cy="41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14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31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查询引擎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3167999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QueryData(cols,conds,page,rows) -&gt; 遍历+匹配+分页+footer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GetFieldMeta() -&gt; 349字段JSON (含分组/类型/piece)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GetFieldPiece(field) -&gt; 字段名转piece位置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MatchValue(val,op,condVal,type) -&gt; 条件匹配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BuildMultiPiece(data,piece) -&gt; 聚合字段拼接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4800" y="492480000000"/>
            <a:ext cx="3491999" cy="41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74800" y="492480000000"/>
            <a:ext cx="54000" cy="414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00" y="492480108000"/>
            <a:ext cx="31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9E4"/>
                </a:solidFill>
              </a:rPr>
              <a:t>模板CRUD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00" y="492480576000"/>
            <a:ext cx="3167999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GetTemplateList(UserID,IsActive) -&gt; 按Scope过滤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SaveTemplate(ID,Name,Scope,...) -&gt; 重复名校验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DeleteTemplate(ID,UserID) -&gt; 仅创建者可删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GetTemplateDetail(ID) -&gt; 完整JSON配置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ToggleDefault(ID,val) / ToggleActive(ID,val)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GetDefaultTemplate(UserID) -&gt; 页面初始化加载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54800" y="492480000000"/>
            <a:ext cx="3491999" cy="41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A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54800" y="492480000000"/>
            <a:ext cx="54000" cy="414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0800" y="492480108000"/>
            <a:ext cx="3167999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AE67"/>
                </a:solidFill>
              </a:rPr>
              <a:t>交互模式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0800" y="492480576000"/>
            <a:ext cx="3167999" cy="3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前端 $.cm({ClassName, MethodName, param, wantreturnval:1})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后端 ClassMethod 返回 JSON 字符串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条件: JSON.stringify -&gt; %DynamicArray.%FromJSON()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分页: 全量匹配 -&gt; 内存切片 (200K上限保护)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340000"/>
            <a:ext cx="216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479D"/>
                </a:solidFill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0" y="2700000"/>
            <a:ext cx="7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>
                <a:solidFill>
                  <a:srgbClr val="00A9E4"/>
                </a:solidFill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0" y="2700000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479D"/>
                </a:solidFill>
              </a:rPr>
              <a:t>界面功能介绍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0" y="108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60000" y="1800000"/>
            <a:ext cx="360000" cy="360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20000" y="2520000"/>
            <a:ext cx="360000" cy="360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40000" y="324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3.1 / 查询主界面布局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34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30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1. 输出列配置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30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点击 [选择列...] 打开字段选择器弹窗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分组 tabs 切换 + 关键词搜索过滤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已选列拖拽排序 (HTML5 Drag API)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预设 11 常用默认列 (姓名/病案号/...).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列芯片展示 + 即时刷新表头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800" y="492480000000"/>
            <a:ext cx="34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800" y="492480000000"/>
            <a:ext cx="54000" cy="468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8800" y="492480108000"/>
            <a:ext cx="30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9E4"/>
                </a:solidFill>
              </a:rPr>
              <a:t>2. 查询条件区域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8800" y="492480576000"/>
            <a:ext cx="30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动态条件行: 字段选择 + 运算符 + 值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条件组概念: 组内 AND, 组间 OR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字段类型决定运算符和输入控件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Date -&gt; datebox, CTLoc -&gt; 文本框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聚合字段: 所有诊断/所有手术名称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800" y="492480000000"/>
            <a:ext cx="34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A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0800" y="492480000000"/>
            <a:ext cx="54000" cy="468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6800" y="492480108000"/>
            <a:ext cx="30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AE67"/>
                </a:solidFill>
              </a:rPr>
              <a:t>3. 结果数据表格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6800" y="492480576000"/>
            <a:ext cx="30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HISUI datagrid 动态列生成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手动分页 (10/20/50/100条)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Footer 行: 费用字段自动合计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导出 Excel: CSV + BOM + Blob 下载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200K 行上限, 超限提示缩小范围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3.2 / 模板系统 + 字段选择器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D7D31"/>
                </a:solidFill>
              </a:rPr>
              <a:t>4. 模板系统 (悬浮弹框)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右上角图标 (position:fixed) 触发悬浮弹框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弹框内: 当前模板 + 列表 + [新增/管理]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保存/引用/新增模板 + 自动加载配置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模板管理独立页面 (编辑/禁用/默认)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编辑弹窗: 实时预览列配置 + 条件明细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5. 字段选择器弹窗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左: 分组树 + 搜索框, 右: 已选列面板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checkbox 勾选即时同步到已选列表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已选列支持拖拽排序 (HTML5 Drag API)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全选 / 反选 / 确认按钮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关闭弹窗立刻刷新 datagrid 表头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3.3 / 系统截图 (占位)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1368000"/>
            <a:ext cx="5400000" cy="198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479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4800" y="1908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79D"/>
                </a:solidFill>
              </a:rPr>
              <a:t>[ 截图: 查询主界面 ]</a:t>
            </a:r>
          </a:p>
          <a:p>
            <a:pPr algn="ctr"/>
            <a:r>
              <a:rPr sz="1300">
                <a:solidFill>
                  <a:srgbClr val="262626"/>
                </a:solidFill>
              </a:rPr>
              <a:t>输出列芯片 + 条件组 + 结果表格 + footer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54800" y="1368000"/>
            <a:ext cx="5400000" cy="198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479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4800" y="1908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79D"/>
                </a:solidFill>
              </a:rPr>
              <a:t>[ 截图: 字段选择器 ]</a:t>
            </a:r>
          </a:p>
          <a:p>
            <a:pPr algn="ctr"/>
            <a:r>
              <a:rPr sz="1300">
                <a:solidFill>
                  <a:srgbClr val="262626"/>
                </a:solidFill>
              </a:rPr>
              <a:t>分组 tabs + 搜索 + 已选列拖拽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800" y="3960000"/>
            <a:ext cx="5400000" cy="198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479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800" y="4500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79D"/>
                </a:solidFill>
              </a:rPr>
              <a:t>[ 截图: 模板管理 ]</a:t>
            </a:r>
          </a:p>
          <a:p>
            <a:pPr algn="ctr"/>
            <a:r>
              <a:rPr sz="1300">
                <a:solidFill>
                  <a:srgbClr val="262626"/>
                </a:solidFill>
              </a:rPr>
              <a:t>列表 + 编辑弹窗(预览配置)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54800" y="3960000"/>
            <a:ext cx="5400000" cy="198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479D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4800" y="4500000"/>
            <a:ext cx="46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79D"/>
                </a:solidFill>
              </a:rPr>
              <a:t>[ 截图: 模板悬浮框 ]</a:t>
            </a:r>
          </a:p>
          <a:p>
            <a:pPr algn="ctr"/>
            <a:r>
              <a:rPr sz="1300">
                <a:solidFill>
                  <a:srgbClr val="262626"/>
                </a:solidFill>
              </a:rPr>
              <a:t>右上角图标 + 弹框列表 + 引用/明细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340000"/>
            <a:ext cx="216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479D"/>
                </a:solidFill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0" y="2700000"/>
            <a:ext cx="7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>
                <a:solidFill>
                  <a:srgbClr val="00A9E4"/>
                </a:solidFill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0" y="2700000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479D"/>
                </a:solidFill>
              </a:rPr>
              <a:t>关键技术实现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0" y="108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60000" y="1800000"/>
            <a:ext cx="360000" cy="360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20000" y="2520000"/>
            <a:ext cx="360000" cy="360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40000" y="324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4.1 / 条件匹配引擎 (MatchValue + 分组逻辑)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MatchValue 核心逻辑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contains:    $find(actualVal, condVal) &gt; 0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startswith:  $e(actualVal, 1, $l(condVal)) = condVal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eq/neq/gt/lt/gte/lte:  直接比较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between:      $p(~) 拆 v1/v2 -&gt; 区间判断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Date 类型:    condVal 先 $zdh(,3) 再比较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CTLoc 类型:   actualVal 先 $p(^CTLOC) 转描述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Gender 类型:  1-&gt;男, 2-&gt;女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492480000000"/>
            <a:ext cx="54000" cy="468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9E4"/>
                </a:solidFill>
              </a:rPr>
              <a:t>Global 遍历 + 分组匹配流程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1. 解析 columns/conditions JSON (%DynamicArray)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2. 按 groupId 分组条件, | 分隔条件字符串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3. s id=0 for { s id=$o(^DHCMRInfo(id)) q:id=""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4. 每组内逐条件 MatchValue (组内 AND)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5. 任一组全通过 -&gt; groupMatch=1 (组间 OR)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6. 匹配行收集到数组 -&gt; 分页切片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7. 超 200K 立即中止, 返回 error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4.2 / 模板系统实现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存储方案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Global $lb 10位: (%%CLASSNAME, Name, Scope,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  CreateUserID, ColumnsJSON, ConditionsJSON,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  IsDefault, IsActive, CreateDate, CreateTime)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持久类 User.DHCMRQueryTemplate 显式 Storage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Data 段精确映射 piece-&gt;属性 (SqlColumnNumber)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双通道: 后端直写 Global + SQL SELECT 可读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A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492480000000"/>
            <a:ext cx="54000" cy="468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AE67"/>
                </a:solidFill>
              </a:rPr>
              <a:t>前端加载/保存流程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保存: selectedFields + collectConditions()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  -&gt; JSON.stringify -&gt; $.cm SaveTemplate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加载: GetTemplateDetail -&gt; 解析 ColumnsJSON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  -&gt; restoreConditions(conds) 恢复条件组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  -&gt; setTimeout 级联: 150ms字段/350ms op/600ms值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编辑: 模板管理页 GetTemplateDetail 获取完整JSON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4.3 / 数据转换与类型安全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34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30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输出列转换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30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Date: $zd(+val, 3)  67661-&gt;2026-04-01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CTLoc: $p(^CTLOC(id),'^',2)  35-&gt;内科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Gender: 1-&gt;男, 2-&gt;女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MultiPiece: BuildMultiPiece 拼接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buildColumnsWithType() 始终查FIELD_META补全type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800" y="492480000000"/>
            <a:ext cx="34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800" y="492480000000"/>
            <a:ext cx="54000" cy="468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8800" y="492480108000"/>
            <a:ext cx="30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9E4"/>
                </a:solidFill>
              </a:rPr>
              <a:t>前端兜底机制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8800" y="492480576000"/>
            <a:ext cx="30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模板旧数据无 type -&gt; FIELD_META 自动补全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combobox('getValue') 读字段值/类型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datebox('getValue') 读取日期输入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DEFAULT_FIELDS 必须包含 type 属性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collectConditions() 收集完整元数据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800" y="492480000000"/>
            <a:ext cx="34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A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0800" y="492480000000"/>
            <a:ext cx="54000" cy="468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6800" y="492480108000"/>
            <a:ext cx="30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AE67"/>
                </a:solidFill>
              </a:rPr>
              <a:t>Critical Bug 修复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6800" y="492480576000"/>
            <a:ext cx="30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$p($h,",",2) 返回字符串 -&gt; +$p 强制数字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$i(^Global(0)) -&gt; $i(^Global) 计数器位置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%Persistent Storage Data 段映射必须精确匹配 piece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模板编辑 ColumnsJSON 为空 -&gt; GetTemplateDetail 异步获取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340000"/>
            <a:ext cx="216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479D"/>
                </a:solidFill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0" y="2700000"/>
            <a:ext cx="7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>
                <a:solidFill>
                  <a:srgbClr val="00A9E4"/>
                </a:solidFill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0" y="2700000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479D"/>
                </a:solidFill>
              </a:rPr>
              <a:t>避坑指南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0" y="108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60000" y="1800000"/>
            <a:ext cx="360000" cy="360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20000" y="2520000"/>
            <a:ext cx="360000" cy="360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40000" y="324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5.1 / IRIS 编译陷阱 (4坑)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坑1: for 内 quit 带返回值 -&gt; 编译报错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错误: for{... if match q "result"}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正确: for{... if match {s result="x" q}}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  -&gt; if $d(result) q result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原理: IRIS 编译器禁止循环内 quit 带参数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影响: QUIT with arguments not allowed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492480000000"/>
            <a:ext cx="54000" cy="46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D7D31"/>
                </a:solidFill>
              </a:rPr>
              <a:t>坑2: &amp;&amp;/||/=/elseif 语法陷阱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)&amp;&amp;( 不能写成 ) &amp;&amp; (   -- 两侧不能有空格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'[ 不包含运算符内部不能有空格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postfix = 两侧不能空格: q:admId=""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elseif 不能内联单行: 需独立 if 或块结构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for/while 块结构必须全拼, 不能缩写 f/w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5.2 / 持久类与数据类型陷阱 (4坑)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坑3: 持久类 Global 直写 SQL 不可见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错误: 直写 ^Global 绕开 %Save() -&gt; SQL 投影丢失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修复: 显式 Storage Data 段映射 piece-&gt;属性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关键: IdLocation 计数器在 root, 不在 (0)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修复旧数据: kill ^Global(0) + 修正 root 计数器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SqlColumnNumber + SqlFieldName 让 SELECT 可用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492480000000"/>
            <a:ext cx="54000" cy="46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D7D31"/>
                </a:solidFill>
              </a:rPr>
              <a:t>坑4: 字符串 vs 数字类型错误 -&gt; &lt;LIST&gt;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$p 返回始终是字符串, 非数字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$p($h,",",2) -&gt; "81923" 写入 $lb 10位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持久类 %Time 属性读取时触发 &lt;LIST&gt; 致命错误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修复: +$p($h,",",2) -&gt; 81923 (数字)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同理: $zd(+val,3), $zdh(+val,3) 均需 +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5.3 / 前端陷阱: IE11 + 模板加载 (4坑)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坑5: IE11 兼容陷阱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禁用: let/const/Promise/箭头函数/模板字符串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classList -&gt; className.indexOf('cls') !== -1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dataset -&gt; getAttribute('data-xxx')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Event: e = e || window.event (IE 无参数)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DnD: IE11 支持 draggable + dataTransfer.getData('text')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492480000000"/>
            <a:ext cx="54000" cy="46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D7D31"/>
                </a:solidFill>
              </a:rPr>
              <a:t>坑6: 模板加载数据丢失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问题: GetTemplateList 不返回 JSON 列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-&gt; saveEdit() 取 row.ColumnsJSON = undefined -&gt; '[]'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修复: 缓存变量 editingColsJSON / editingCondsJSON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修复: openEdit 调 GetTemplateDetail 获取完整数据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修复: restoreConditions 用 setTimeout 级联恢复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5.4 / 默认字段 + 条件输入陷阱 (2坑)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坑7: DEFAULT_FIELDS 缺少 type 属性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错误: {field:"MR_CYRQ",title:"出院日期",piece:39}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正确: 必须加 type:"Date"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后果: f.type||"String" -&gt; "String"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-&gt; 后端 $zd 转换被跳过 -&gt; 显示原始数字 67661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修复: 所有默认字段补齐 type + FIELD_META 兜底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492480000000"/>
            <a:ext cx="54000" cy="46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D7D31"/>
                </a:solidFill>
              </a:rPr>
              <a:t>坑8: CTLoc/聚合字段条件输入不生效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CTLoc: 数据存 ID(35), 用户输入描述(内科)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修复: MatchValue 中 actualVal 先 $p(^CTLOC) 转描述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聚合字段: 负 piece -&gt; BuildMultiPiece 拼接16-20字段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Gender: 类型 String -&gt; Gender, 加转换逻辑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前端运算符: CTLoc/Gender 用 String 组(包含/等于)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340000"/>
            <a:ext cx="216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00479D"/>
                </a:solidFill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40000" y="2700000"/>
            <a:ext cx="72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>
                <a:solidFill>
                  <a:srgbClr val="00A9E4"/>
                </a:solidFill>
              </a:rPr>
              <a:t>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0" y="2700000"/>
            <a:ext cx="648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0479D"/>
                </a:solidFill>
              </a:rPr>
              <a:t>经验总结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60000" y="108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60000" y="1800000"/>
            <a:ext cx="360000" cy="360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720000" y="2520000"/>
            <a:ext cx="360000" cy="360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40000" y="3240000"/>
            <a:ext cx="360000" cy="360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6.1 / 开发最佳实践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34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30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后端开发规范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30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先查 HISUI-工具表/ 确认 Global 结构和 piece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数据验证: zw 逐层确认, 不确定的问用户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modified files 仅改需求涉及行, 用 diff 验证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编译前检查: for 内无 quit 带返回值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CLS 无 BOM, CSP/JS/CSV 必带 BOM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800" y="492480000000"/>
            <a:ext cx="34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800" y="492480000000"/>
            <a:ext cx="54000" cy="4680000"/>
          </a:xfrm>
          <a:prstGeom prst="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8800" y="492480108000"/>
            <a:ext cx="30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A9E4"/>
                </a:solidFill>
              </a:rPr>
              <a:t>持久类设计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8800" y="492480576000"/>
            <a:ext cx="30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%Persistent 必须显式 Storage 定义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Data 段精确映射 piece -&gt; 属性 (SqlColumnNumber)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IdLocation 用 root, 不用 (0) subscript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$lb 位置 1 是 %%CLASSNAME, 属性从位置 2 开始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Global + SQL 双通道: 直写 Global + SELECT 可查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800" y="492480000000"/>
            <a:ext cx="34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A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0800" y="492480000000"/>
            <a:ext cx="54000" cy="468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6800" y="492480108000"/>
            <a:ext cx="30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AE67"/>
                </a:solidFill>
              </a:rPr>
              <a:t>前端开发规范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6800" y="492480576000"/>
            <a:ext cx="30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全部 var + function, 禁止 ES6+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HISUI 组件值: combobox('getValue') / datebox('getValue')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动态 DOM: $.parser.parse() 初始化 HISUI 控件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FIELD_META 始终作为 type 兜底来源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模板恢复: setTimeout 级联保证时序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4800" y="432000"/>
            <a:ext cx="1008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479D"/>
                </a:solidFill>
              </a:rPr>
              <a:t>6.2 / 项目总结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9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4800" y="6408000"/>
            <a:ext cx="216000" cy="216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800" y="6408000"/>
            <a:ext cx="216000" cy="216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44800" y="6408000"/>
            <a:ext cx="216000" cy="216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000" y="144000"/>
            <a:ext cx="36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>
                <a:solidFill>
                  <a:srgbClr val="00479D"/>
                </a:solidFill>
              </a:rPr>
              <a:t>iMED</a:t>
            </a:r>
            <a:r>
              <a:rPr sz="1400" b="1">
                <a:solidFill>
                  <a:srgbClr val="F8B62D"/>
                </a:solidFill>
              </a:rPr>
              <a:t>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47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00" y="492480000000"/>
            <a:ext cx="54000" cy="4680000"/>
          </a:xfrm>
          <a:prstGeom prst="rect">
            <a:avLst/>
          </a:prstGeom>
          <a:solidFill>
            <a:srgbClr val="0047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0799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479D"/>
                </a:solidFill>
              </a:rPr>
              <a:t>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0799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完整自定义查询系统 (查询+模板+导出)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349 字段, 10 分组, 6 种类型, 4 聚合字段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8 种运算符 + AND/OR 条件组 + 手动分页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模板 CRUD (通用/个人) + SQL + Global 双通道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IE11 全兼容, 0 个 ES6+ 语法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输出列类型自动转换 (Date/CTLoc/Gender)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4800" y="492480000000"/>
            <a:ext cx="5220000" cy="46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3A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4800" y="492480000000"/>
            <a:ext cx="54000" cy="4680000"/>
          </a:xfrm>
          <a:prstGeom prst="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0800" y="492480108000"/>
            <a:ext cx="489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3AE67"/>
                </a:solidFill>
              </a:rPr>
              <a:t>技术栈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0800" y="492480576000"/>
            <a:ext cx="4896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后端: IRIS 2021.1.2 ObjectScript (12 方法, ~1000 行)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前端: CSP + HISUI (EasyUI) + jQuery 1.11 (~900 行 JS)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数据: ^DHCMRInfo Global + ^User.DHCMRQueryTemplateD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SQL: User.DHCMRQueryTemplate (显式 Storage)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交互: $.cm() 标准模式, 无 REST API</a:t>
            </a:r>
          </a:p>
          <a:p>
            <a:pPr>
              <a:lnSpc>
                <a:spcPts val="2200"/>
              </a:lnSpc>
              <a:spcAft>
                <a:spcPts val="500"/>
              </a:spcAft>
            </a:pPr>
            <a:r>
              <a:rPr sz="1200" b="0">
                <a:solidFill>
                  <a:srgbClr val="262626"/>
                </a:solidFill>
              </a:rPr>
              <a:t>· 工具: Python 脚本生成 GetFieldMeta 元数据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0" y="1800000"/>
            <a:ext cx="864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00479D"/>
                </a:solidFill>
              </a:rPr>
              <a:t>THANKS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0" y="306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262626"/>
                </a:solidFill>
              </a:rPr>
              <a:t>IRIS HIS 病案编目数据自定义查询系统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0" y="3960000"/>
            <a:ext cx="864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262626"/>
                </a:solidFill>
              </a:rPr>
              <a:t>2026年7月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0" y="5220000"/>
            <a:ext cx="288000" cy="288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32000" y="5220000"/>
            <a:ext cx="288000" cy="288000"/>
          </a:xfrm>
          <a:prstGeom prst="roundRect">
            <a:avLst/>
          </a:prstGeom>
          <a:solidFill>
            <a:srgbClr val="F8B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64000" y="5220000"/>
            <a:ext cx="288000" cy="288000"/>
          </a:xfrm>
          <a:prstGeom prst="roundRect">
            <a:avLst/>
          </a:prstGeom>
          <a:solidFill>
            <a:srgbClr val="13A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796000" y="5220000"/>
            <a:ext cx="288000" cy="288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28000" y="5220000"/>
            <a:ext cx="288000" cy="288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60000" y="5220000"/>
            <a:ext cx="288000" cy="288000"/>
          </a:xfrm>
          <a:prstGeom prst="roundRect">
            <a:avLst/>
          </a:prstGeom>
          <a:solidFill>
            <a:srgbClr val="00A9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0" y="5940000"/>
            <a:ext cx="864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A9E4"/>
                </a:solidFill>
              </a:rPr>
              <a:t>科技呵护健康  孪生助力成功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