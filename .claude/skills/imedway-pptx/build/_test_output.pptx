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ov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" y="939600"/>
            <a:ext cx="2858400" cy="42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1600" y="2199600"/>
            <a:ext cx="6580800" cy="81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00479D"/>
                </a:solidFill>
                <a:latin typeface="思源黑体"/>
              </a:rPr>
              <a:t>iMEDWAY 设计系统测试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800" y="3052800"/>
            <a:ext cx="3646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00479D"/>
                </a:solidFill>
                <a:latin typeface="思源黑体"/>
              </a:rPr>
              <a:t>白色版 PPT 模板验证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800" y="5133600"/>
            <a:ext cx="19728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提报人：测试  提报时间：2026/06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1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0000" y="216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iMEDWAY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78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2000" y="576000"/>
            <a:ext cx="180000" cy="648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1800000"/>
            <a:ext cx="216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0479D"/>
                </a:solidFill>
                <a:latin typeface="思源黑体"/>
              </a:rPr>
              <a:t>目 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420000"/>
            <a:ext cx="2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479D"/>
                </a:solidFill>
                <a:latin typeface="思源黑体"/>
              </a:rPr>
              <a:t>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0" y="1620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479D"/>
                </a:solidFill>
                <a:latin typeface="思源黑体"/>
              </a:rPr>
              <a:t>01/ 基础样式模板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0" y="2268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479D"/>
                </a:solidFill>
                <a:latin typeface="思源黑体"/>
              </a:rPr>
              <a:t>02/ 架构图模板样式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2916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479D"/>
                </a:solidFill>
                <a:latin typeface="思源黑体"/>
              </a:rPr>
              <a:t>03/ 图表模板样式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0" y="3564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479D"/>
                </a:solidFill>
                <a:latin typeface="思源黑体"/>
              </a:rPr>
              <a:t>04/ 图片模板样式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4680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1999" y="4680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3998" y="4680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000" y="4931999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1999" y="4931999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3998" y="4931999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0000" y="1080000"/>
            <a:ext cx="180000" cy="1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0000" y="1331999"/>
            <a:ext cx="180000" cy="1800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0000" y="1583998"/>
            <a:ext cx="180000" cy="1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0000" y="1835997"/>
            <a:ext cx="180000" cy="1800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0000" y="2087996"/>
            <a:ext cx="180000" cy="1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0000" y="2339995"/>
            <a:ext cx="180000" cy="18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0000" y="2591994"/>
            <a:ext cx="180000" cy="1800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0000" y="2843993"/>
            <a:ext cx="180000" cy="18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0" y="306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479D"/>
                </a:solidFill>
                <a:latin typeface="思源黑体"/>
              </a:rPr>
              <a:t>01 / 基础样式模板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1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0000" y="216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iMEDWAY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78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2000" y="576000"/>
            <a:ext cx="180000" cy="648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540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  <a:latin typeface="思源黑体"/>
              </a:rPr>
              <a:t>1.1 有递进关系的内容展示</a:t>
            </a:r>
          </a:p>
        </p:txBody>
      </p:sp>
      <p:sp>
        <p:nvSpPr>
          <p:cNvPr id="16" name="Trapezoid 15"/>
          <p:cNvSpPr/>
          <p:nvPr/>
        </p:nvSpPr>
        <p:spPr>
          <a:xfrm>
            <a:off x="2340000" y="1620000"/>
            <a:ext cx="1080000" cy="648000"/>
          </a:xfrm>
          <a:prstGeom prst="trapezoid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pezoid 16"/>
          <p:cNvSpPr/>
          <p:nvPr/>
        </p:nvSpPr>
        <p:spPr>
          <a:xfrm>
            <a:off x="1980000" y="2340000"/>
            <a:ext cx="1800000" cy="648000"/>
          </a:xfrm>
          <a:prstGeom prst="trapezoid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pezoid 17"/>
          <p:cNvSpPr/>
          <p:nvPr/>
        </p:nvSpPr>
        <p:spPr>
          <a:xfrm>
            <a:off x="1620000" y="3060000"/>
            <a:ext cx="2520000" cy="648000"/>
          </a:xfrm>
          <a:prstGeom prst="trapezoid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pezoid 18"/>
          <p:cNvSpPr/>
          <p:nvPr/>
        </p:nvSpPr>
        <p:spPr>
          <a:xfrm>
            <a:off x="1260000" y="3780000"/>
            <a:ext cx="3240000" cy="648000"/>
          </a:xfrm>
          <a:prstGeom prst="trapezoid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pezoid 19"/>
          <p:cNvSpPr/>
          <p:nvPr/>
        </p:nvSpPr>
        <p:spPr>
          <a:xfrm>
            <a:off x="900000" y="4500000"/>
            <a:ext cx="3960000" cy="648000"/>
          </a:xfrm>
          <a:prstGeom prst="trapezoid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80000" y="1620000"/>
            <a:ext cx="36000" cy="64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0" y="1620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第 1 层标题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1836000"/>
            <a:ext cx="54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第 1 层描述说明文字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80000" y="2340000"/>
            <a:ext cx="36000" cy="648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000" y="2340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第 2 层标题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0" y="2556000"/>
            <a:ext cx="54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第 2 层描述说明文字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80000" y="3060000"/>
            <a:ext cx="36000" cy="6480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000" y="3060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第 3 层标题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0" y="3276000"/>
            <a:ext cx="54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第 3 层描述说明文字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80000" y="3780000"/>
            <a:ext cx="36000" cy="648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0" y="3780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第 4 层标题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0" y="3996000"/>
            <a:ext cx="54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第 4 层描述说明文字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80000" y="4500000"/>
            <a:ext cx="36000" cy="64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000" y="4500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第 5 层标题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0" y="4716000"/>
            <a:ext cx="54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第 5 层描述说明文字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1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0000" y="216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iMEDWAY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78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2000" y="576000"/>
            <a:ext cx="180000" cy="648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540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  <a:latin typeface="思源黑体"/>
              </a:rPr>
              <a:t>1.2 形式统一样式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1260000"/>
            <a:ext cx="4860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0000" y="1440000"/>
            <a:ext cx="288000" cy="288000"/>
          </a:xfrm>
          <a:prstGeom prst="ellipse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1440000"/>
            <a:ext cx="39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479D"/>
                </a:solidFill>
                <a:latin typeface="思源黑体"/>
              </a:rPr>
              <a:t>象限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1980000"/>
            <a:ext cx="45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默认深蓝标题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0000" y="1260000"/>
            <a:ext cx="4860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000" y="1440000"/>
            <a:ext cx="288000" cy="288000"/>
          </a:xfrm>
          <a:prstGeom prst="ellipse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6000" y="1440000"/>
            <a:ext cx="39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B62D"/>
                </a:solidFill>
                <a:latin typeface="思源黑体"/>
              </a:rPr>
              <a:t>象限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1980000"/>
            <a:ext cx="45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提醒黄色 #F8B62D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3780000"/>
            <a:ext cx="4860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0000" y="3960000"/>
            <a:ext cx="288000" cy="288000"/>
          </a:xfrm>
          <a:prstGeom prst="ellipse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000" y="3960000"/>
            <a:ext cx="39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479D"/>
                </a:solidFill>
                <a:latin typeface="思源黑体"/>
              </a:rPr>
              <a:t>象限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4500000"/>
            <a:ext cx="45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默认深蓝标题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80000" y="3780000"/>
            <a:ext cx="4860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60000" y="3960000"/>
            <a:ext cx="288000" cy="288000"/>
          </a:xfrm>
          <a:prstGeom prst="ellipse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6000" y="3960000"/>
            <a:ext cx="39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思源黑体"/>
              </a:rPr>
              <a:t>象限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0" y="4500000"/>
            <a:ext cx="45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警示橙色 #ED7D31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1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0000" y="216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iMEDWAY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78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2000" y="576000"/>
            <a:ext cx="180000" cy="648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540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  <a:latin typeface="思源黑体"/>
              </a:rPr>
              <a:t>1.3 总分样式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260000"/>
            <a:ext cx="4320000" cy="3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1260000"/>
            <a:ext cx="4320000" cy="54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1332000"/>
            <a:ext cx="396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思源黑体"/>
              </a:rPr>
              <a:t>二级标题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1980000"/>
            <a:ext cx="3960000" cy="28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62626"/>
                </a:solidFill>
                <a:latin typeface="思源黑体"/>
              </a:rPr>
              <a:t>三级样式，单击此处输入您的正文。文字是您思想的提炼，为了最终演示发布的良好效果，请尽量言简意赅的阐述观点。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0" y="1260000"/>
            <a:ext cx="2106000" cy="2106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2000" y="1332000"/>
            <a:ext cx="19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小标题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2000" y="1692000"/>
            <a:ext cx="1944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小标题 1正文</a:t>
            </a:r>
          </a:p>
        </p:txBody>
      </p:sp>
      <p:sp>
        <p:nvSpPr>
          <p:cNvPr id="23" name="Oval 22"/>
          <p:cNvSpPr/>
          <p:nvPr/>
        </p:nvSpPr>
        <p:spPr>
          <a:xfrm>
            <a:off x="8100000" y="1260000"/>
            <a:ext cx="2106000" cy="2106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2000" y="1332000"/>
            <a:ext cx="19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小标题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2000" y="1692000"/>
            <a:ext cx="1944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小标题 2正文</a:t>
            </a:r>
          </a:p>
        </p:txBody>
      </p:sp>
      <p:sp>
        <p:nvSpPr>
          <p:cNvPr id="26" name="Oval 25"/>
          <p:cNvSpPr/>
          <p:nvPr/>
        </p:nvSpPr>
        <p:spPr>
          <a:xfrm>
            <a:off x="5400000" y="3420000"/>
            <a:ext cx="2106000" cy="2106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72000" y="3492000"/>
            <a:ext cx="19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小标题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2000" y="3852000"/>
            <a:ext cx="1944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小标题 3正文</a:t>
            </a:r>
          </a:p>
        </p:txBody>
      </p:sp>
      <p:sp>
        <p:nvSpPr>
          <p:cNvPr id="29" name="Oval 28"/>
          <p:cNvSpPr/>
          <p:nvPr/>
        </p:nvSpPr>
        <p:spPr>
          <a:xfrm>
            <a:off x="8100000" y="3420000"/>
            <a:ext cx="2106000" cy="2106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2000" y="3492000"/>
            <a:ext cx="19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小标题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2000" y="3852000"/>
            <a:ext cx="1944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小标题 4正文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1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0000" y="216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iMEDWAY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78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2000" y="576000"/>
            <a:ext cx="180000" cy="648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540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  <a:latin typeface="思源黑体"/>
              </a:rPr>
              <a:t>2.1 架构图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60000" y="1260000"/>
            <a:ext cx="3060000" cy="324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0000" y="1260000"/>
            <a:ext cx="30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添加内容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0000" y="1800000"/>
            <a:ext cx="3060000" cy="324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0000" y="1800000"/>
            <a:ext cx="30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添加内容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0000" y="1260000"/>
            <a:ext cx="3060000" cy="324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0" y="1260000"/>
            <a:ext cx="30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添加内容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0000" y="1800000"/>
            <a:ext cx="3060000" cy="324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0" y="1800000"/>
            <a:ext cx="30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添加内容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0000" y="1260000"/>
            <a:ext cx="3060000" cy="324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0000" y="1260000"/>
            <a:ext cx="30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添加内容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0000" y="1800000"/>
            <a:ext cx="3060000" cy="324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0000" y="1800000"/>
            <a:ext cx="30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添加内容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60000" y="288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0000" y="288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0000" y="324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0000" y="324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60000" y="360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0000" y="360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000" y="288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000" y="288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000" y="324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000" y="324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60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000" y="360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0000" y="288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0000" y="288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0000" y="324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0000" y="324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0000" y="360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0000" y="360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40000" y="288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40000" y="288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40000" y="324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0" y="324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40000" y="3600000"/>
            <a:ext cx="1260000" cy="324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40000" y="360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思源黑体"/>
              </a:rPr>
              <a:t>内容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60000" y="4860000"/>
            <a:ext cx="1260000" cy="324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60000" y="486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4860000"/>
            <a:ext cx="1260000" cy="324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80000" y="486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0000" y="4860000"/>
            <a:ext cx="1260000" cy="324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0000" y="486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40000" y="4860000"/>
            <a:ext cx="1260000" cy="324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40000" y="486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00000" y="108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00000" y="108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00000" y="144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00000" y="144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00000" y="180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00000" y="180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00000" y="216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00000" y="216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00000" y="252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00000" y="252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00000" y="288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00000" y="288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00000" y="324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00000" y="324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00000" y="360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00000" y="360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00000" y="3960000"/>
            <a:ext cx="1404000" cy="288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00000" y="3960000"/>
            <a:ext cx="14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内容内容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1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0000" y="216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iMEDWAY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78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2000" y="576000"/>
            <a:ext cx="180000" cy="648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540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  <a:latin typeface="思源黑体"/>
              </a:rPr>
              <a:t>2.3 点标题样式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260000"/>
            <a:ext cx="3420000" cy="432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1260000"/>
            <a:ext cx="34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"/>
              </a:rPr>
              <a:t>大标题·左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1692000"/>
            <a:ext cx="342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0000" y="1260000"/>
            <a:ext cx="3420000" cy="432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0000" y="1260000"/>
            <a:ext cx="34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"/>
              </a:rPr>
              <a:t>大标题·中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40000" y="1692000"/>
            <a:ext cx="342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0000" y="1260000"/>
            <a:ext cx="3420000" cy="4320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0" y="1260000"/>
            <a:ext cx="34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"/>
              </a:rPr>
              <a:t>大标题·右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0" y="1692000"/>
            <a:ext cx="342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1800000"/>
            <a:ext cx="34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2340000"/>
            <a:ext cx="34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2880000"/>
            <a:ext cx="34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420000"/>
            <a:ext cx="34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3960000"/>
            <a:ext cx="34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40000" y="1800000"/>
            <a:ext cx="1080000" cy="288000"/>
          </a:xfrm>
          <a:prstGeom prst="roundRect">
            <a:avLst>
              <a:gd name="adj" fmla="val 40000"/>
            </a:avLst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0000" y="1800000"/>
            <a:ext cx="10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点标题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40000" y="2700000"/>
            <a:ext cx="1080000" cy="288000"/>
          </a:xfrm>
          <a:prstGeom prst="roundRect">
            <a:avLst>
              <a:gd name="adj" fmla="val 40000"/>
            </a:avLst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40000" y="2700000"/>
            <a:ext cx="10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点标题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40000" y="3600000"/>
            <a:ext cx="1080000" cy="288000"/>
          </a:xfrm>
          <a:prstGeom prst="roundRect">
            <a:avLst>
              <a:gd name="adj" fmla="val 40000"/>
            </a:avLst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0000" y="3600000"/>
            <a:ext cx="10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</a:rPr>
              <a:t>点标题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20000" y="1800000"/>
            <a:ext cx="3420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0000" y="1800000"/>
            <a:ext cx="34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0000" y="2303999"/>
            <a:ext cx="3420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0000" y="2303999"/>
            <a:ext cx="34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20000" y="2807998"/>
            <a:ext cx="3420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0000" y="2807998"/>
            <a:ext cx="34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0000" y="3311997"/>
            <a:ext cx="3420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0000" y="3311997"/>
            <a:ext cx="34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点标题：内容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0000" y="4680000"/>
            <a:ext cx="126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000" y="468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479D"/>
                </a:solidFill>
                <a:latin typeface="思源黑体"/>
              </a:rPr>
              <a:t>胶囊 0-0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0000" y="5112000"/>
            <a:ext cx="126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0000" y="5112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479D"/>
                </a:solidFill>
                <a:latin typeface="思源黑体"/>
              </a:rPr>
              <a:t>胶囊 0-1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80000" y="4680000"/>
            <a:ext cx="126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80000" y="468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479D"/>
                </a:solidFill>
                <a:latin typeface="思源黑体"/>
              </a:rPr>
              <a:t>胶囊 1-0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80000" y="5112000"/>
            <a:ext cx="126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80000" y="5112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479D"/>
                </a:solidFill>
                <a:latin typeface="思源黑体"/>
              </a:rPr>
              <a:t>胶囊 1-1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00000" y="4680000"/>
            <a:ext cx="126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00000" y="4680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479D"/>
                </a:solidFill>
                <a:latin typeface="思源黑体"/>
              </a:rPr>
              <a:t>胶囊 2-0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00000" y="5112000"/>
            <a:ext cx="126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00000" y="5112000"/>
            <a:ext cx="12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479D"/>
                </a:solidFill>
                <a:latin typeface="思源黑体"/>
              </a:rPr>
              <a:t>胶囊 2-1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1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0000" y="216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iMEDWAY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78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2000" y="576000"/>
            <a:ext cx="180000" cy="648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540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  <a:latin typeface="思源黑体"/>
              </a:rPr>
              <a:t>3.1 正式场合使用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260000"/>
            <a:ext cx="540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479D"/>
                </a:solidFill>
                <a:latin typeface="思源黑体"/>
              </a:rPr>
              <a:t>横向条形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1692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蓝调单色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0" y="1260000"/>
            <a:ext cx="540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479D"/>
                </a:solidFill>
                <a:latin typeface="思源黑体"/>
              </a:rPr>
              <a:t>折线带标记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1692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蓝调单色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780000"/>
            <a:ext cx="540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3888000"/>
            <a:ext cx="54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479D"/>
                </a:solidFill>
                <a:latin typeface="思源黑体"/>
              </a:rPr>
              <a:t>柱形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212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蓝调单色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3780000"/>
            <a:ext cx="540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0000" y="3888000"/>
            <a:ext cx="54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479D"/>
                </a:solidFill>
                <a:latin typeface="思源黑体"/>
              </a:rPr>
              <a:t>饼图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0" y="4212000"/>
            <a:ext cx="54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思源黑体"/>
              </a:rPr>
              <a:t>蓝调单色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10000" y="5688000"/>
            <a:ext cx="216000" cy="216000"/>
          </a:xfrm>
          <a:prstGeom prst="roundRect">
            <a:avLst>
              <a:gd name="adj" fmla="val 20000"/>
            </a:avLst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0000" y="216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  <a:latin typeface="思源黑体"/>
              </a:rPr>
              <a:t>iMEDWAY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78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0" y="576000"/>
            <a:ext cx="180000" cy="648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2000" y="576000"/>
            <a:ext cx="180000" cy="648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000" y="576000"/>
            <a:ext cx="180000" cy="648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540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  <a:latin typeface="思源黑体"/>
              </a:rPr>
              <a:t>3.3 表格样式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20000" y="1620000"/>
          <a:ext cx="1008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520000"/>
                <a:gridCol w="2520000"/>
                <a:gridCol w="2520000"/>
              </a:tblGrid>
              <a:tr h="54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思源黑体"/>
                        </a:rPr>
                        <a:t>维度</a:t>
                      </a:r>
                    </a:p>
                  </a:txBody>
                  <a:tcPr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思源黑体"/>
                        </a:rPr>
                        <a:t>色值</a:t>
                      </a:r>
                    </a:p>
                  </a:txBody>
                  <a:tcPr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思源黑体"/>
                        </a:rPr>
                        <a:t>用途</a:t>
                      </a:r>
                    </a:p>
                  </a:txBody>
                  <a:tcPr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思源黑体"/>
                        </a:rPr>
                        <a:t>占比</a:t>
                      </a:r>
                    </a:p>
                  </a:txBody>
                  <a:tcPr>
                    <a:solidFill>
                      <a:srgbClr val="00479D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#00479D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标题/表头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Secondary-1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#00A9E4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次要元素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Secondary-2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#F8B62D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提醒/高亮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Accent-1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#13AE67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成功状态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Accent-2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#ED7D31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警告/强调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思源黑体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0"/>
            <a:ext cx="432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262626"/>
                </a:solidFill>
                <a:latin typeface="思源黑体"/>
              </a:rPr>
              <a:t>THANKS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3600000"/>
            <a:ext cx="288000" cy="9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6000" y="3600000"/>
            <a:ext cx="288000" cy="9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2000" y="3600000"/>
            <a:ext cx="288000" cy="9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38000" y="3600000"/>
            <a:ext cx="288000" cy="9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44000" y="3600000"/>
            <a:ext cx="288000" cy="90000"/>
          </a:xfrm>
          <a:prstGeom prst="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50000" y="3600000"/>
            <a:ext cx="288000" cy="9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3960000"/>
            <a:ext cx="54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iMedical® HOS/CMOS/All in one with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0" y="1800000"/>
            <a:ext cx="50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479D"/>
                </a:solidFill>
                <a:latin typeface="思源黑体"/>
              </a:rPr>
              <a:t>医为使命 iMEDWAY MISSION</a:t>
            </a:r>
          </a:p>
          <a:p>
            <a:r>
              <a:rPr sz="1800">
                <a:solidFill>
                  <a:srgbClr val="00479D"/>
                </a:solidFill>
                <a:latin typeface="思源黑体"/>
              </a:rPr>
              <a:t>科技呵护健康  孪生助力成功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5400000"/>
            <a:ext cx="50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思源黑体"/>
              </a:rPr>
              <a:t>东华医为科技有限公司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